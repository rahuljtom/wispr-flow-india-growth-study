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India is 14% of installs but 2% of in-app revenue (reported); public signals show where to 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3505200" cy="1463040"/>
          </a:xfrm>
          <a:prstGeom prst="roundRect">
            <a:avLst/>
          </a:prstGeom>
          <a:solidFill>
            <a:srgbClr val="3B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14%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of installs from India (reported)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8160" y="1554480"/>
            <a:ext cx="3505200" cy="1463040"/>
          </a:xfrm>
          <a:prstGeom prst="round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2%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of in-app purchase revenue (reported)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99120" y="1554480"/>
            <a:ext cx="3505200" cy="1463040"/>
          </a:xfrm>
          <a:prstGeom prst="round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0.143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revenue per install vs global (scenario)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39"/>
            <a:ext cx="11247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Reported by Sensor Tower via TechCrunch, Oct 2025 to Apr 2026; in-app purchases only.</a:t>
            </a:r>
          </a:p>
          <a:p>
            <a:pPr>
              <a:spcAft>
                <a:spcPts val="1000"/>
              </a:spcAft>
              <a:defRPr sz="1600"/>
            </a:pPr>
            <a:r>
              <a:t>• Scenario, not causal: revenue per install is 0.143 of the global rate; price alone implies 0.283.</a:t>
            </a:r>
          </a:p>
          <a:p>
            <a:pPr>
              <a:spcAft>
                <a:spcPts val="1000"/>
              </a:spcAft>
              <a:defRPr sz="1600"/>
            </a:pPr>
            <a:r>
              <a:t>• Ask: internal activation, retention and price-test data to replace these public proxies.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R-002 reported (techcrunch.com, 2026-05-09, read 2026-10-18); R-003 reported (techcrunch.com, 2026-05-09, read 2026-10-18); R-011 derived (derived in project); R-012 derived (derived in project)  Data as of 2026-10-18.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Price alone would imply 0.283 of the global revenue per install against 0.143 observed; the 0.504 residual cannot be apportioned (range 0.22 to 1.22)</a:t>
            </a:r>
          </a:p>
        </p:txBody>
      </p:sp>
      <p:pic>
        <p:nvPicPr>
          <p:cNvPr id="3" name="Picture 2" descr="gap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223760" cy="2889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0" y="1554480"/>
            <a:ext cx="3749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In-app purchases only. The company says India is its second-largest base by users and paying subscribers, yet web and desktop plans bill through Stripe, outside this measure (hypothesis: much India revenue sits outside the app stores).</a:t>
            </a:r>
          </a:p>
          <a:p>
            <a:pPr>
              <a:spcAft>
                <a:spcPts val="1000"/>
              </a:spcAft>
              <a:defRPr sz="1600"/>
            </a:pPr>
            <a:r>
              <a:t>• Index compares annual list prices at an implied FX; promotions, free tier and billing route are excluded.</a:t>
            </a:r>
          </a:p>
          <a:p>
            <a:pPr>
              <a:spcAft>
                <a:spcPts val="1000"/>
              </a:spcAft>
              <a:defRPr sz="1600"/>
            </a:pPr>
            <a:r>
              <a:t>• Install mix shifted inside the window (Android launch in February, India launch at the very end).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R-001 reported (techcrunch.com, 2026-05-09, read 2026-10-18); R-002 reported (techcrunch.com, 2026-05-09, read 2026-10-18); R-003 reported (techcrunch.com, 2026-05-09, read 2026-10-18); R-010 reported (techcrunch.com, 2026-05-09, read 2026-10-18); R-005 reported (wisprflow.ai, read 2026-10-18); R-011 derived (derived in project); R-012 derived (derived in project); R-013 derived (derived in project); R-014 derived (derived in project); R-085 reported (docs.wisprflow.ai, read 2026-10-18); R-119 reported (economictimes.indiatimes.com, 2026-04-28, read 2026-10-18)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Most common review themes in an interim sample of 321 reviews: praise productivity, accuracy general, pricing paywall; India-versus-US is not estimable</a:t>
            </a:r>
          </a:p>
        </p:txBody>
      </p:sp>
      <p:pic>
        <p:nvPicPr>
          <p:cNvPr id="3" name="Picture 2" descr="themes_overall_vs_low_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7705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08570" y="1554480"/>
            <a:ext cx="409575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Pricing is higher and praise lower among the one- and two-star reviews (intervals do not overlap); other gaps are noise.</a:t>
            </a:r>
          </a:p>
          <a:p>
            <a:pPr>
              <a:spcAft>
                <a:spcPts val="1000"/>
              </a:spcAft>
              <a:defRPr sz="1600"/>
            </a:pPr>
            <a:r>
              <a:t>• Interim: 321 of 600 selected, newest Play reviews only; Play has no country split.</a:t>
            </a:r>
          </a:p>
          <a:p>
            <a:pPr>
              <a:spcAft>
                <a:spcPts val="1000"/>
              </a:spcAft>
              <a:defRPr sz="1600"/>
            </a:pPr>
            <a:r>
              <a:t>• 'Other' is the largest bucket; no tagged review is in the roman-Hindi/Devanagari proxy.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R-050 estimated (estimated from project data); R-057 estimated (estimated from project data); R-058 estimated (estimated from project data); R-051 estimated (estimated from project data); R-052 estimated (estimated from project data); R-053 estimated (estimated from project data); R-040 estimated (estimated from project data)  Directional; tagger test results in appendix.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Gboard is the most dangerous free substitute; Superflow is the closest dedicated dictation rival (claims untested)</a:t>
            </a:r>
          </a:p>
        </p:txBody>
      </p:sp>
      <p:pic>
        <p:nvPicPr>
          <p:cNvPr id="3" name="Picture 2" descr="pric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76656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554480"/>
            <a:ext cx="4206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Gboard leads the matrix at 13 of 15 with every criterion sourced: free voice typing, Hindi, 10B+ global installs.</a:t>
            </a:r>
          </a:p>
          <a:p>
            <a:pPr>
              <a:spcAft>
                <a:spcPts val="1000"/>
              </a:spcAft>
              <a:defRPr sz="1600"/>
            </a:pPr>
            <a:r>
              <a:t>• Superflow (Android, March 2026; Bengaluru developer) scores 11 on four known criteria, ahead of Typeless 9 and Aqua Voice 7; its price is unknown (11 to 14 possible).</a:t>
            </a:r>
          </a:p>
          <a:p>
            <a:pPr>
              <a:spcAft>
                <a:spcPts val="1000"/>
              </a:spcAft>
              <a:defRPr sz="1600"/>
            </a:pPr>
            <a:r>
              <a:t>• Install bands are global, claims advertised, Play item prices lack billing periods; Wispr's own Play items run 400 to 3849 INR.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R-070 reported (wisprflow.ai, read 2026-10-18); R-071 reported (wisprflow.ai, read 2026-10-18); R-114 derived (derived in project); R-115 reported (play.google.com, read 2026-10-19); R-116 reported (play.google.com, read 2026-10-19); R-117 reported (play.google.com, read 2026-10-19); R-118 reported (getsupernova.ai, read 2026-10-19); R-016 derived (derived in project)  Rubric and full matrix: data/processed/competitor_matrix.csv and the dashboard. Superwhisper and Apple list prices are unknown and not charted; Play item ranges are not compared with Flow's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Checkout, free tier and offers: what is documented, and where the sources disagree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  <a:gridCol w="2743200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What is documented or advertised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India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320 INR a month billed annually (3840 a year, derived) or 400 INR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Reported, India page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UPI and cards (Visa, Mastercard, American Express, Discover) plus one unnamed option; Wispr-specific UPI on Google Play and net banking are unverified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Advertised, not tested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Free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Weekly caps per docs: mobile soft 1000 / hard 1500 words, desktop 2000 / 5000; India page says 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Docs vs marketing copy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Partner 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Zepto 3 months, CRED 10 months of Pro (CRED length set per code); browser claim, individual plans, card at checkout, renews unless 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Documented; redeemable today unknown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50% off Pro (India page); 3 months free for new Pro students (students page); help doc: terms set per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Sources disagree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Android launch 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Free with no cap during early access at launch; not in current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Launch only; current unknown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R-070 reported (wisprflow.ai, read 2026-10-18); R-071 reported (wisprflow.ai, read 2026-10-18); R-072 derived (derived in project); R-007 reported (wisprflow.ai, read 2026-10-18); R-008 reported (wisprflow.ai, read 2026-10-18); R-080 reported (docs.wisprflow.ai, read 2026-10-18); R-081 reported (docs.wisprflow.ai, read 2026-10-18); R-074 reported (docs.wisprflow.ai, read 2026-10-18); R-075 reported (docs.wisprflow.ai, read 2026-10-18); R-076 reported (wisprflow.ai, read 2026-10-18); R-077 reported (wisprflow.ai, read 2026-10-18); R-078 reported (docs.wisprflow.ai, read 2026-10-18)  No payment method or offer was tested; nothing here is universal.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Search data cannot isolate the Bengaluru campaign (not estimable); a geo-split launch test could</a:t>
            </a:r>
          </a:p>
        </p:txBody>
      </p:sp>
      <p:pic>
        <p:nvPicPr>
          <p:cNvPr id="3" name="Picture 2" descr="trends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49440" cy="37725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59" y="1554480"/>
            <a:ext cx="4023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Only 2 of 5 states had enough pre-period search activity; a comparison needs at least 2 controls.</a:t>
            </a:r>
          </a:p>
          <a:p>
            <a:pPr>
              <a:spcAft>
                <a:spcPts val="1000"/>
              </a:spcAft>
              <a:defRPr sz="1600"/>
            </a:pPr>
            <a:r>
              <a:t>• Interest rose in every state after the provisional date, so a Karnataka-specific change is not separable.</a:t>
            </a:r>
          </a:p>
          <a:p>
            <a:pPr>
              <a:spcAft>
                <a:spcPts val="1000"/>
              </a:spcAft>
              <a:defRPr sz="1600"/>
            </a:pPr>
            <a:r>
              <a:t>• Better: geo-split launch with install attribution, or a holdout 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R-107 derived (derived in project); R-091 reported (economictimes.indiatimes.com, 2026-04-28, read 2026-10-18)  Directional Google Trends index; campaign date reported by Economic Times, exact start unverified.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Three experiments sized to India traffic (illustrative baselines); 1650 installs a day is a window average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731520"/>
                <a:gridCol w="640080"/>
                <a:gridCol w="822960"/>
                <a:gridCol w="1280160"/>
                <a:gridCol w="3749039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Primary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 per 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Days incl. follow-up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Decision rule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E1 Android permission-flow redesign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first completed dictation within one day of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10.0-29.2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Stop early on crash or D7-uninstall harm; roll out only if the lift's 95% interval excludes zero.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E2 Android free-tier weekly cap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paid conversion by day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3788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22.2-75.2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Stop early if D7 retention falls below a floor; roll out only if the day-14 conversion lift is above zero.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E3 Family and WhatsApp invite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invited users who complete a dictation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9.5-15.1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Stop early on spam or opt-out spikes; scale only if the invite-to-dictation lift is above zero.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R-060 estimated (estimated from project data); R-061 estimated (estimated from project data); R-062 estimated (estimated from project data); R-100 derived (derived in project)  Baselines and MDEs are assumptions; guardrail limits need internal baselines; E3 duration is a proxy; E2 tests a cap level, not unlimited. Grid: data/processed/experiment_sizing.csv.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First three months, and the internal data I would ask for to replace these proxies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17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39"/>
                <a:gridCol w="3749039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Month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Months two and three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Internal data to request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Activation funnel by platform</a:t>
                      </a:r>
                    </a:p>
                    <a:p>
                      <a:pPr>
                        <a:defRPr sz="1400" b="0"/>
                      </a:pPr>
                      <a:r>
                        <a:t>Android permission drop-off</a:t>
                      </a:r>
                    </a:p>
                    <a:p>
                      <a:pPr>
                        <a:defRPr sz="1400" b="0"/>
                      </a:pPr>
                      <a:r>
                        <a:t>Free-tier cap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Run E1 (permission flow)</a:t>
                      </a:r>
                    </a:p>
                    <a:p>
                      <a:pPr>
                        <a:defRPr sz="1400" b="0"/>
                      </a:pPr>
                      <a:r>
                        <a:t>Then E3 (invite loop)</a:t>
                      </a:r>
                    </a:p>
                    <a:p>
                      <a:pPr>
                        <a:defRPr sz="1400" b="0"/>
                      </a:pPr>
                      <a:r>
                        <a:t>E2 as a cap-level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Cohort retention</a:t>
                      </a:r>
                    </a:p>
                    <a:p>
                      <a:pPr>
                        <a:defRPr sz="1400" b="0"/>
                      </a:pPr>
                      <a:r>
                        <a:t>Price-test history</a:t>
                      </a:r>
                    </a:p>
                    <a:p>
                      <a:pPr>
                        <a:defRPr sz="1400" b="0"/>
                      </a:pPr>
                      <a:r>
                        <a:t>Paid conversion by channel</a:t>
                      </a:r>
                    </a:p>
                    <a:p>
                      <a:pPr>
                        <a:defRPr sz="1400" b="0"/>
                      </a:pPr>
                      <a:r>
                        <a:t>Web versus store billing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Appendix: data coverage and tagging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Facts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Play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3000 pulled, history from 2026-03; reviews are not split by country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App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RSS feed erratic and non-contiguous; India and US windows do not overlap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 states, weekly; 2 with enough pre-period data; one rate-limit retry resolved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Tagger,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60 reviews scored once: micro-F1 0.784 (95% interval 0.72-0.85), sentiment kappa 0.830 (0.68-0.95); only 7 of 17 themes had enough examples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Tagger,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40 reviews after the label audit: micro-F1 0.752; the prompt was chosen on dev, so this is optimistic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Gold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One labeller; labels revised after the dev analysis; free-tier model processing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R-106 derived (derived in project); R-107 derived (derived in project); R-040 estimated (estimated from project data); R-041 estimated (estimated from project data); R-113 estimated (estimated from project data); R-103 estimated (estimated from project data); R-104 derived (derived in project); R-105 derived (derived in project)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Appendix: assumptions and limitations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35440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Assumptions and limitations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Scenario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Android share 30/50/70%, eligible 50/80%, exposed 50/100%; missed revenue 0 to 60%; baselines illustrative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In-app purchases only, from one secondary article; FX implied by that article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Not all users; Play has no country split; interim newest-reviews subset; small one-labeller gold set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Relative and state-level; sparse controls; campaign date reported, start unverified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Competitors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Scores rest on Play listings and developer claims; install bands are global, not India; Apple dictation and Eloquent unscored; competitor reviews not tagged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Payments and 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Advertised or documented, not tested; no offer shown to be universal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Sources: R-108 assumption (assumption); R-109 assumption (assumption); R-110 assumption (assumption); R-111 assumption (assumption)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Wispr Flow India: public-signals growth diagnostic</dc:title>
  <dc:subject>Public-source diagnostic; see the repository README for methods and limitations</dc:subject>
  <dc:creator>wispr-flow-analytics</dc:creator>
  <cp:keywords/>
  <dc:description/>
  <cp:lastModifiedBy>wispr-flow-analytics</cp:lastModifiedBy>
  <cp:revision>1</cp:revision>
  <dcterms:created xsi:type="dcterms:W3CDTF">2026-10-19T15:42:45Z</dcterms:created>
  <dcterms:modified xsi:type="dcterms:W3CDTF">2026-10-19T15:42:45Z</dcterms:modified>
  <cp:category/>
</cp:coreProperties>
</file>